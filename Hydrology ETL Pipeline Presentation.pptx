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Consolas" panose="020B0609020204030204" pitchFamily="49" charset="0"/>
      <p:regular r:id="rId5"/>
      <p:bold r:id="rId6"/>
      <p:italic r:id="rId7"/>
      <p:boldItalic r:id="rId8"/>
    </p:embeddedFont>
    <p:embeddedFont>
      <p:font typeface="Urbanist" panose="020B0604020202020204" charset="0"/>
      <p:regular r:id="rId9"/>
      <p:bold r:id="rId10"/>
      <p:italic r:id="rId11"/>
      <p:boldItalic r:id="rId12"/>
    </p:embeddedFont>
    <p:embeddedFont>
      <p:font typeface="Urbanis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2475" y="-942975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457950"/>
            <a:ext cx="110299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323975"/>
            <a:ext cx="3549550" cy="265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1075" y="1323975"/>
            <a:ext cx="3549699" cy="265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1323975"/>
            <a:ext cx="3549550" cy="2654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264669"/>
            <a:ext cx="5324475" cy="2304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264669"/>
            <a:ext cx="5324475" cy="2304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1562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162050" y="1562100"/>
            <a:ext cx="189023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PURPOSE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96850" y="1943100"/>
            <a:ext cx="28828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16"/>
              </a:lnSpc>
            </a:pPr>
            <a:r>
              <a:rPr lang="en-US" sz="12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Automated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extraction of hydrology station </a:t>
            </a:r>
            <a:r>
              <a:rPr lang="en-GB" sz="12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HIPPER_PARK ROAD BRIDGE_E_202312</a:t>
            </a:r>
          </a:p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1009650" y="2445841"/>
            <a:ext cx="2882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Transform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raw API JSON into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Star Schema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1009650" y="2948582"/>
            <a:ext cx="2882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Target: Analytical storage in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SQLite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database</a:t>
            </a:r>
            <a:endParaRPr sz="1200" dirty="0">
              <a:solidFill>
                <a:srgbClr val="D1D5DB"/>
              </a:solidFill>
              <a:latin typeface="Urbanist"/>
              <a:ea typeface="Urbanist"/>
              <a:cs typeface="Urbanist"/>
            </a:endParaRPr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59200" y="15621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4959250" y="1562100"/>
            <a:ext cx="255031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ENVIRONMENT &amp; CONFIG</a:t>
            </a:r>
            <a:endParaRPr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4749700" y="1943100"/>
            <a:ext cx="288294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Dynamic loading via </a:t>
            </a: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dotenv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variables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4749700" y="2232570"/>
            <a:ext cx="3121074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Keys: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BASE_URL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TARGET_PARAMETERS</a:t>
            </a:r>
            <a:endParaRPr b="1"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4749700" y="2522041"/>
            <a:ext cx="288294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Centralized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DB_PATH 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for storage</a:t>
            </a:r>
            <a:endParaRPr dirty="0"/>
          </a:p>
        </p:txBody>
      </p:sp>
      <p:pic>
        <p:nvPicPr>
          <p:cNvPr id="102" name="Google Shape;102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99400" y="15621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8699450" y="1562100"/>
            <a:ext cx="169021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EXTRACT PHASE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489900" y="1943100"/>
            <a:ext cx="2882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check_api_reachable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(): 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Connectivity check</a:t>
            </a:r>
            <a:endParaRPr dirty="0"/>
          </a:p>
        </p:txBody>
      </p:sp>
      <p:sp>
        <p:nvSpPr>
          <p:cNvPr id="105" name="Google Shape;105;p13"/>
          <p:cNvSpPr txBox="1"/>
          <p:nvPr/>
        </p:nvSpPr>
        <p:spPr>
          <a:xfrm>
            <a:off x="8489900" y="2445841"/>
            <a:ext cx="2882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extract_measures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(): 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Discovers station metadata</a:t>
            </a:r>
            <a:endParaRPr dirty="0"/>
          </a:p>
        </p:txBody>
      </p:sp>
      <p:sp>
        <p:nvSpPr>
          <p:cNvPr id="106" name="Google Shape;106;p13"/>
          <p:cNvSpPr txBox="1"/>
          <p:nvPr/>
        </p:nvSpPr>
        <p:spPr>
          <a:xfrm>
            <a:off x="8499581" y="2935718"/>
            <a:ext cx="328556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Filters measures by TARGET_PARAMETERS</a:t>
            </a:r>
            <a:endParaRPr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8509564" y="3228705"/>
            <a:ext cx="2882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extract_readings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()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Latest 10 records per item</a:t>
            </a:r>
            <a:endParaRPr dirty="0"/>
          </a:p>
        </p:txBody>
      </p:sp>
      <p:pic>
        <p:nvPicPr>
          <p:cNvPr id="108" name="Google Shape;108;p1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9150" y="450279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1190625" y="4502794"/>
            <a:ext cx="331041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TRANSFORM PHASE: TRANSFORM()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009650" y="4883794"/>
            <a:ext cx="46577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Aggregates findings from extraction modules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009650" y="5173265"/>
            <a:ext cx="46577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Converts raw </a:t>
            </a:r>
            <a:r>
              <a:rPr lang="en-US" sz="12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strings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to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datetime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objects</a:t>
            </a:r>
            <a:endParaRPr dirty="0"/>
          </a:p>
        </p:txBody>
      </p:sp>
      <p:sp>
        <p:nvSpPr>
          <p:cNvPr id="112" name="Google Shape;112;p13"/>
          <p:cNvSpPr txBox="1"/>
          <p:nvPr/>
        </p:nvSpPr>
        <p:spPr>
          <a:xfrm>
            <a:off x="1009650" y="5462736"/>
            <a:ext cx="46577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Handles missing/malformed timestamps gracefully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009650" y="5752207"/>
            <a:ext cx="46577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Normalizes text: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strip() 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and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lower()</a:t>
            </a:r>
            <a:endParaRPr b="1" dirty="0"/>
          </a:p>
        </p:txBody>
      </p:sp>
      <p:sp>
        <p:nvSpPr>
          <p:cNvPr id="114" name="Google Shape;114;p13"/>
          <p:cNvSpPr txBox="1"/>
          <p:nvPr/>
        </p:nvSpPr>
        <p:spPr>
          <a:xfrm>
            <a:off x="1009650" y="6041677"/>
            <a:ext cx="46577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Enriches data with station-measure relationship IDs</a:t>
            </a:r>
            <a:endParaRPr/>
          </a:p>
        </p:txBody>
      </p:sp>
      <p:pic>
        <p:nvPicPr>
          <p:cNvPr id="115" name="Google Shape;115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24625" y="450279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6896100" y="4502794"/>
            <a:ext cx="23002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STAR SCHEMA DESIGN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6524625" y="5026669"/>
            <a:ext cx="1520725" cy="108585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6638925" y="5140969"/>
            <a:ext cx="12921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dim_station</a:t>
            </a:r>
            <a:r>
              <a:rPr lang="en-US" sz="1050" b="0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- station_id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- station metadata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6524625" y="5026669"/>
            <a:ext cx="28575" cy="10858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8188225" y="5026669"/>
            <a:ext cx="1520874" cy="108585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8302525" y="5140969"/>
            <a:ext cx="129227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dim_measure</a:t>
            </a:r>
            <a:r>
              <a:rPr lang="en-US" sz="1050" b="0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- parameter_id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- measure metadata</a:t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8188225" y="5026669"/>
            <a:ext cx="28575" cy="10858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9851975" y="5026669"/>
            <a:ext cx="1520874" cy="108585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9966275" y="5140969"/>
            <a:ext cx="1292274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fact_readings</a:t>
            </a:r>
            <a:r>
              <a:rPr lang="en-US" sz="1050" b="0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- fact_id (PK)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- FK: station, measure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- values, quality mapping</a:t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9851975" y="5026669"/>
            <a:ext cx="28575" cy="10858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819150" y="194310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819150" y="2445841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819150" y="2948582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129" name="Google Shape;129;p13"/>
          <p:cNvSpPr txBox="1"/>
          <p:nvPr/>
        </p:nvSpPr>
        <p:spPr>
          <a:xfrm>
            <a:off x="4559200" y="194310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559200" y="223257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4559200" y="2522041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4559200" y="2811512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133" name="Google Shape;133;p13"/>
          <p:cNvSpPr txBox="1"/>
          <p:nvPr/>
        </p:nvSpPr>
        <p:spPr>
          <a:xfrm>
            <a:off x="8299400" y="194310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8299400" y="2445841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8299400" y="2948582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8299400" y="3238053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819150" y="4883794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819150" y="5173265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819150" y="5462736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819150" y="575220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819150" y="6041677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142" name="Google Shape;142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43924" y="293734"/>
            <a:ext cx="285750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581025" y="48577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Hydrology ETL Pipeline –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 &amp; Processing</a:t>
            </a:r>
            <a:endParaRPr dirty="0"/>
          </a:p>
        </p:txBody>
      </p:sp>
      <p:sp>
        <p:nvSpPr>
          <p:cNvPr id="7" name="Google Shape;101;p13">
            <a:extLst>
              <a:ext uri="{FF2B5EF4-FFF2-40B4-BE49-F238E27FC236}">
                <a16:creationId xmlns:a16="http://schemas.microsoft.com/office/drawing/2014/main" id="{E39EB290-C55C-6EF2-CDD9-329A7302C03F}"/>
              </a:ext>
            </a:extLst>
          </p:cNvPr>
          <p:cNvSpPr txBox="1"/>
          <p:nvPr/>
        </p:nvSpPr>
        <p:spPr>
          <a:xfrm>
            <a:off x="4772440" y="2805386"/>
            <a:ext cx="288294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Custom logging for end-to-end traceability and monitoring.</a:t>
            </a:r>
            <a:endParaRPr sz="1200" dirty="0">
              <a:solidFill>
                <a:srgbClr val="D1D5DB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0" name="Google Shape;143;p13">
            <a:extLst>
              <a:ext uri="{FF2B5EF4-FFF2-40B4-BE49-F238E27FC236}">
                <a16:creationId xmlns:a16="http://schemas.microsoft.com/office/drawing/2014/main" id="{97D8E651-5FB4-803C-076A-EC3463EAC836}"/>
              </a:ext>
            </a:extLst>
          </p:cNvPr>
          <p:cNvSpPr txBox="1"/>
          <p:nvPr/>
        </p:nvSpPr>
        <p:spPr>
          <a:xfrm>
            <a:off x="8601434" y="6569272"/>
            <a:ext cx="2857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Author: Adewale Ilesanmi</a:t>
            </a:r>
            <a:endParaRPr sz="1800" dirty="0"/>
          </a:p>
        </p:txBody>
      </p:sp>
      <p:sp>
        <p:nvSpPr>
          <p:cNvPr id="2" name="Google Shape;95;p13">
            <a:extLst>
              <a:ext uri="{FF2B5EF4-FFF2-40B4-BE49-F238E27FC236}">
                <a16:creationId xmlns:a16="http://schemas.microsoft.com/office/drawing/2014/main" id="{D03A4401-161E-3E4F-0544-017DD845D0AE}"/>
              </a:ext>
            </a:extLst>
          </p:cNvPr>
          <p:cNvSpPr txBox="1"/>
          <p:nvPr/>
        </p:nvSpPr>
        <p:spPr>
          <a:xfrm>
            <a:off x="992213" y="3513428"/>
            <a:ext cx="288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TARGET_PARAMETERS = ["DISSOLVED OXYGEN", "CONDUCTIVITY"]</a:t>
            </a:r>
          </a:p>
        </p:txBody>
      </p:sp>
      <p:sp>
        <p:nvSpPr>
          <p:cNvPr id="3" name="Google Shape;128;p13">
            <a:extLst>
              <a:ext uri="{FF2B5EF4-FFF2-40B4-BE49-F238E27FC236}">
                <a16:creationId xmlns:a16="http://schemas.microsoft.com/office/drawing/2014/main" id="{E660927E-EABE-748F-87EA-1BB880B991EC}"/>
              </a:ext>
            </a:extLst>
          </p:cNvPr>
          <p:cNvSpPr txBox="1"/>
          <p:nvPr/>
        </p:nvSpPr>
        <p:spPr>
          <a:xfrm>
            <a:off x="786807" y="34637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2475" y="-942975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457950"/>
            <a:ext cx="1102995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323975"/>
            <a:ext cx="3549550" cy="236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1075" y="1323975"/>
            <a:ext cx="3549699" cy="236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1275" y="1323975"/>
            <a:ext cx="3549550" cy="236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3975199"/>
            <a:ext cx="5324475" cy="186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3975199"/>
            <a:ext cx="5324475" cy="186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" y="6066532"/>
            <a:ext cx="110299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4"/>
          <p:cNvSpPr txBox="1"/>
          <p:nvPr/>
        </p:nvSpPr>
        <p:spPr>
          <a:xfrm>
            <a:off x="581025" y="5837932"/>
            <a:ext cx="110299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END-TO-END EXECUTION FLOW SUMMARY</a:t>
            </a:r>
            <a:endParaRPr/>
          </a:p>
        </p:txBody>
      </p:sp>
      <p:pic>
        <p:nvPicPr>
          <p:cNvPr id="157" name="Google Shape;15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58237" y="43922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"/>
          <p:cNvSpPr txBox="1"/>
          <p:nvPr/>
        </p:nvSpPr>
        <p:spPr>
          <a:xfrm>
            <a:off x="8143636" y="4868465"/>
            <a:ext cx="161020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Star Schema Model</a:t>
            </a:r>
            <a:endParaRPr dirty="0"/>
          </a:p>
        </p:txBody>
      </p:sp>
      <p:sp>
        <p:nvSpPr>
          <p:cNvPr id="159" name="Google Shape;159;p14"/>
          <p:cNvSpPr txBox="1"/>
          <p:nvPr/>
        </p:nvSpPr>
        <p:spPr>
          <a:xfrm>
            <a:off x="6772275" y="5125640"/>
            <a:ext cx="43529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Ensures Data Normalization, Referential Integrity, and Analytics Scalability</a:t>
            </a:r>
            <a:endParaRPr b="1" dirty="0"/>
          </a:p>
        </p:txBody>
      </p:sp>
      <p:sp>
        <p:nvSpPr>
          <p:cNvPr id="160" name="Google Shape;160;p14"/>
          <p:cNvSpPr txBox="1"/>
          <p:nvPr/>
        </p:nvSpPr>
        <p:spPr>
          <a:xfrm>
            <a:off x="771525" y="6261794"/>
            <a:ext cx="168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Hydrology API</a:t>
            </a:r>
            <a:endParaRPr/>
          </a:p>
        </p:txBody>
      </p:sp>
      <p:pic>
        <p:nvPicPr>
          <p:cNvPr id="161" name="Google Shape;16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459087" y="6257032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4"/>
          <p:cNvSpPr txBox="1"/>
          <p:nvPr/>
        </p:nvSpPr>
        <p:spPr>
          <a:xfrm>
            <a:off x="2563862" y="6261794"/>
            <a:ext cx="168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Extract Measures</a:t>
            </a:r>
            <a:endParaRPr/>
          </a:p>
        </p:txBody>
      </p:sp>
      <p:pic>
        <p:nvPicPr>
          <p:cNvPr id="163" name="Google Shape;163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251424" y="6257032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4356199" y="6261794"/>
            <a:ext cx="168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Transform Logic</a:t>
            </a:r>
            <a:endParaRPr/>
          </a:p>
        </p:txBody>
      </p:sp>
      <p:pic>
        <p:nvPicPr>
          <p:cNvPr id="165" name="Google Shape;165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43761" y="6257032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/>
          <p:nvPr/>
        </p:nvSpPr>
        <p:spPr>
          <a:xfrm>
            <a:off x="6148536" y="6261794"/>
            <a:ext cx="168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Star Schema Builder</a:t>
            </a:r>
            <a:endParaRPr/>
          </a:p>
        </p:txBody>
      </p:sp>
      <p:pic>
        <p:nvPicPr>
          <p:cNvPr id="167" name="Google Shape;167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836098" y="6257032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 txBox="1"/>
          <p:nvPr/>
        </p:nvSpPr>
        <p:spPr>
          <a:xfrm>
            <a:off x="7940873" y="6261794"/>
            <a:ext cx="168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SQLite Loader</a:t>
            </a:r>
            <a:endParaRPr/>
          </a:p>
        </p:txBody>
      </p:sp>
      <p:pic>
        <p:nvPicPr>
          <p:cNvPr id="169" name="Google Shape;16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28435" y="6257032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9733210" y="6261794"/>
            <a:ext cx="168756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Analytics Ready</a:t>
            </a:r>
            <a:endParaRPr/>
          </a:p>
        </p:txBody>
      </p:sp>
      <p:pic>
        <p:nvPicPr>
          <p:cNvPr id="171" name="Google Shape;171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9150" y="15621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4"/>
          <p:cNvSpPr txBox="1"/>
          <p:nvPr/>
        </p:nvSpPr>
        <p:spPr>
          <a:xfrm>
            <a:off x="1133475" y="1562100"/>
            <a:ext cx="12701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LOAD PHASE</a:t>
            </a:r>
            <a:endParaRPr dirty="0"/>
          </a:p>
        </p:txBody>
      </p:sp>
      <p:sp>
        <p:nvSpPr>
          <p:cNvPr id="173" name="Google Shape;173;p14"/>
          <p:cNvSpPr txBox="1"/>
          <p:nvPr/>
        </p:nvSpPr>
        <p:spPr>
          <a:xfrm>
            <a:off x="1009650" y="1913604"/>
            <a:ext cx="28828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create_tables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(): 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Resets schema state</a:t>
            </a:r>
            <a:endParaRPr dirty="0"/>
          </a:p>
        </p:txBody>
      </p:sp>
      <p:sp>
        <p:nvSpPr>
          <p:cNvPr id="174" name="Google Shape;174;p14"/>
          <p:cNvSpPr txBox="1"/>
          <p:nvPr/>
        </p:nvSpPr>
        <p:spPr>
          <a:xfrm>
            <a:off x="1009650" y="2203074"/>
            <a:ext cx="28828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Strict Schema: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TIMESTAMP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NUMERIC</a:t>
            </a:r>
            <a:endParaRPr b="1" dirty="0"/>
          </a:p>
        </p:txBody>
      </p:sp>
      <p:sp>
        <p:nvSpPr>
          <p:cNvPr id="175" name="Google Shape;175;p14"/>
          <p:cNvSpPr txBox="1"/>
          <p:nvPr/>
        </p:nvSpPr>
        <p:spPr>
          <a:xfrm>
            <a:off x="1009650" y="2492545"/>
            <a:ext cx="28828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Enforces Primary &amp; Foreign Key integrity</a:t>
            </a:r>
            <a:endParaRPr dirty="0"/>
          </a:p>
        </p:txBody>
      </p:sp>
      <p:pic>
        <p:nvPicPr>
          <p:cNvPr id="176" name="Google Shape;176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59200" y="1562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4"/>
          <p:cNvSpPr txBox="1"/>
          <p:nvPr/>
        </p:nvSpPr>
        <p:spPr>
          <a:xfrm>
            <a:off x="4902100" y="1562100"/>
            <a:ext cx="15201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LOADING DATA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4749700" y="1943100"/>
            <a:ext cx="288294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load_to_sqlite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(): 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SQLite session handler</a:t>
            </a:r>
            <a:endParaRPr dirty="0"/>
          </a:p>
        </p:txBody>
      </p:sp>
      <p:sp>
        <p:nvSpPr>
          <p:cNvPr id="179" name="Google Shape;179;p14"/>
          <p:cNvSpPr txBox="1"/>
          <p:nvPr/>
        </p:nvSpPr>
        <p:spPr>
          <a:xfrm>
            <a:off x="4749700" y="2445841"/>
            <a:ext cx="288294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Uses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pandas .</a:t>
            </a: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to_sql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() 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for high-performance loading</a:t>
            </a:r>
            <a:endParaRPr dirty="0"/>
          </a:p>
        </p:txBody>
      </p:sp>
      <p:sp>
        <p:nvSpPr>
          <p:cNvPr id="180" name="Google Shape;180;p14"/>
          <p:cNvSpPr txBox="1"/>
          <p:nvPr/>
        </p:nvSpPr>
        <p:spPr>
          <a:xfrm>
            <a:off x="4749700" y="2948582"/>
            <a:ext cx="288294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Appends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dim_station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dim_measure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fact_df</a:t>
            </a:r>
            <a:endParaRPr b="1" dirty="0"/>
          </a:p>
        </p:txBody>
      </p:sp>
      <p:pic>
        <p:nvPicPr>
          <p:cNvPr id="181" name="Google Shape;181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299400" y="15621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4"/>
          <p:cNvSpPr txBox="1"/>
          <p:nvPr/>
        </p:nvSpPr>
        <p:spPr>
          <a:xfrm>
            <a:off x="8585150" y="1562100"/>
            <a:ext cx="26303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PIPELINE ORCHESTRATION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8489900" y="1943100"/>
            <a:ext cx="28828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run_pipeline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()</a:t>
            </a: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Main sequence controller</a:t>
            </a:r>
            <a:endParaRPr dirty="0"/>
          </a:p>
        </p:txBody>
      </p:sp>
      <p:sp>
        <p:nvSpPr>
          <p:cNvPr id="184" name="Google Shape;184;p14"/>
          <p:cNvSpPr txBox="1"/>
          <p:nvPr/>
        </p:nvSpPr>
        <p:spPr>
          <a:xfrm>
            <a:off x="8489900" y="2445841"/>
            <a:ext cx="28828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Synchronizes Transform → Load sequence</a:t>
            </a:r>
            <a:endParaRPr dirty="0"/>
          </a:p>
        </p:txBody>
      </p:sp>
      <p:sp>
        <p:nvSpPr>
          <p:cNvPr id="185" name="Google Shape;185;p14"/>
          <p:cNvSpPr txBox="1"/>
          <p:nvPr/>
        </p:nvSpPr>
        <p:spPr>
          <a:xfrm>
            <a:off x="8489900" y="2735312"/>
            <a:ext cx="28828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Protected by </a:t>
            </a:r>
            <a:r>
              <a:rPr lang="en-US" sz="12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__name__ == "__main__"</a:t>
            </a:r>
            <a:endParaRPr b="1" dirty="0"/>
          </a:p>
        </p:txBody>
      </p:sp>
      <p:pic>
        <p:nvPicPr>
          <p:cNvPr id="186" name="Google Shape;186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9150" y="421332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/>
        </p:nvSpPr>
        <p:spPr>
          <a:xfrm>
            <a:off x="1133475" y="4213324"/>
            <a:ext cx="23502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DESIGN DECISIONS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19150" y="1913604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189" name="Google Shape;189;p14"/>
          <p:cNvSpPr txBox="1"/>
          <p:nvPr/>
        </p:nvSpPr>
        <p:spPr>
          <a:xfrm>
            <a:off x="819150" y="223257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819150" y="2522041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4559200" y="194310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4559200" y="2445841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4559200" y="2948582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8299400" y="194310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8299400" y="2445841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8299400" y="2735312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1009650" y="4594324"/>
            <a:ext cx="218598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Modular Separation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E/T/L decoupling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1009650" y="5097065"/>
            <a:ext cx="218598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Error Handling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API &amp; Format resilience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3481387" y="4594324"/>
            <a:ext cx="218598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Warehouse Ready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Surrogate Keys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3481387" y="5097065"/>
            <a:ext cx="2185987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Traceability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 Full logging coverage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819150" y="4594324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819150" y="5097065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3290887" y="4594324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3290887" y="5097065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205" name="Google Shape;205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324975" y="9525"/>
            <a:ext cx="285750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4"/>
          <p:cNvSpPr txBox="1"/>
          <p:nvPr/>
        </p:nvSpPr>
        <p:spPr>
          <a:xfrm>
            <a:off x="581025" y="48577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Database Load &amp;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Full Pipeline Execution</a:t>
            </a:r>
            <a:endParaRPr/>
          </a:p>
        </p:txBody>
      </p:sp>
      <p:pic>
        <p:nvPicPr>
          <p:cNvPr id="2" name="Google Shape;171;p14" descr="image.png">
            <a:extLst>
              <a:ext uri="{FF2B5EF4-FFF2-40B4-BE49-F238E27FC236}">
                <a16:creationId xmlns:a16="http://schemas.microsoft.com/office/drawing/2014/main" id="{B71CEB7A-192B-C775-2D05-6CBE22631BF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552" y="285901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2;p14">
            <a:extLst>
              <a:ext uri="{FF2B5EF4-FFF2-40B4-BE49-F238E27FC236}">
                <a16:creationId xmlns:a16="http://schemas.microsoft.com/office/drawing/2014/main" id="{19075FEA-3152-37BC-C01A-BFD6B5E0863B}"/>
              </a:ext>
            </a:extLst>
          </p:cNvPr>
          <p:cNvSpPr txBox="1"/>
          <p:nvPr/>
        </p:nvSpPr>
        <p:spPr>
          <a:xfrm>
            <a:off x="1228811" y="2840129"/>
            <a:ext cx="252061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9FAFB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TABLES &amp; VALUE INSERTED</a:t>
            </a:r>
            <a:endParaRPr dirty="0"/>
          </a:p>
        </p:txBody>
      </p:sp>
      <p:sp>
        <p:nvSpPr>
          <p:cNvPr id="6" name="Google Shape;173;p14">
            <a:extLst>
              <a:ext uri="{FF2B5EF4-FFF2-40B4-BE49-F238E27FC236}">
                <a16:creationId xmlns:a16="http://schemas.microsoft.com/office/drawing/2014/main" id="{AA097B7E-BA84-78C6-D403-10A506E9C38C}"/>
              </a:ext>
            </a:extLst>
          </p:cNvPr>
          <p:cNvSpPr txBox="1"/>
          <p:nvPr/>
        </p:nvSpPr>
        <p:spPr>
          <a:xfrm>
            <a:off x="1285875" y="3070038"/>
            <a:ext cx="2882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2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dim_stations</a:t>
            </a:r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: Value {</a:t>
            </a:r>
            <a:r>
              <a:rPr lang="en-GB" sz="12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1</a:t>
            </a:r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}</a:t>
            </a:r>
          </a:p>
          <a:p>
            <a:r>
              <a:rPr lang="en-GB" sz="12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dim_measures</a:t>
            </a:r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: Value {</a:t>
            </a:r>
            <a:r>
              <a:rPr lang="en-GB" sz="12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3</a:t>
            </a:r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}</a:t>
            </a:r>
          </a:p>
          <a:p>
            <a:r>
              <a:rPr lang="en-GB" sz="1200" dirty="0" err="1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fact_readings</a:t>
            </a:r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 : Value {</a:t>
            </a:r>
            <a:r>
              <a:rPr lang="en-GB" sz="1200" b="1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30</a:t>
            </a:r>
            <a:r>
              <a:rPr lang="en-GB" sz="1200" dirty="0">
                <a:solidFill>
                  <a:srgbClr val="D1D5DB"/>
                </a:solidFill>
                <a:latin typeface="Urbanist"/>
                <a:ea typeface="Urbanist"/>
                <a:cs typeface="Urbanist"/>
              </a:rPr>
              <a:t>}</a:t>
            </a:r>
          </a:p>
          <a:p>
            <a:endParaRPr lang="en-GB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Google Shape;188;p14">
            <a:extLst>
              <a:ext uri="{FF2B5EF4-FFF2-40B4-BE49-F238E27FC236}">
                <a16:creationId xmlns:a16="http://schemas.microsoft.com/office/drawing/2014/main" id="{43728FA1-261F-7055-61BE-06C93BE843F8}"/>
              </a:ext>
            </a:extLst>
          </p:cNvPr>
          <p:cNvSpPr txBox="1"/>
          <p:nvPr/>
        </p:nvSpPr>
        <p:spPr>
          <a:xfrm>
            <a:off x="866775" y="3034308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8" name="Google Shape;188;p14">
            <a:extLst>
              <a:ext uri="{FF2B5EF4-FFF2-40B4-BE49-F238E27FC236}">
                <a16:creationId xmlns:a16="http://schemas.microsoft.com/office/drawing/2014/main" id="{0FD7121F-79E2-837C-D138-4CB93678681B}"/>
              </a:ext>
            </a:extLst>
          </p:cNvPr>
          <p:cNvSpPr txBox="1"/>
          <p:nvPr/>
        </p:nvSpPr>
        <p:spPr>
          <a:xfrm>
            <a:off x="864319" y="3223953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9" name="Google Shape;188;p14">
            <a:extLst>
              <a:ext uri="{FF2B5EF4-FFF2-40B4-BE49-F238E27FC236}">
                <a16:creationId xmlns:a16="http://schemas.microsoft.com/office/drawing/2014/main" id="{DEFFD8AD-2D79-7A12-EBA1-47290F437C35}"/>
              </a:ext>
            </a:extLst>
          </p:cNvPr>
          <p:cNvSpPr txBox="1"/>
          <p:nvPr/>
        </p:nvSpPr>
        <p:spPr>
          <a:xfrm>
            <a:off x="857250" y="3425284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dirty="0"/>
          </a:p>
        </p:txBody>
      </p:sp>
      <p:sp>
        <p:nvSpPr>
          <p:cNvPr id="10" name="Google Shape;143;p13">
            <a:extLst>
              <a:ext uri="{FF2B5EF4-FFF2-40B4-BE49-F238E27FC236}">
                <a16:creationId xmlns:a16="http://schemas.microsoft.com/office/drawing/2014/main" id="{A76F610F-6124-7E16-77D0-51A124098515}"/>
              </a:ext>
            </a:extLst>
          </p:cNvPr>
          <p:cNvSpPr txBox="1"/>
          <p:nvPr/>
        </p:nvSpPr>
        <p:spPr>
          <a:xfrm>
            <a:off x="9039225" y="6571476"/>
            <a:ext cx="2857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Author: Adewale Ilesanmi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417</Words>
  <Application>Microsoft Office PowerPoint</Application>
  <PresentationFormat>Widescreen</PresentationFormat>
  <Paragraphs>92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Urbanist SemiBold</vt:lpstr>
      <vt:lpstr>Consolas</vt:lpstr>
      <vt:lpstr>Arial</vt:lpstr>
      <vt:lpstr>Urbanist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ADMIN</cp:lastModifiedBy>
  <cp:revision>3</cp:revision>
  <dcterms:modified xsi:type="dcterms:W3CDTF">2026-02-27T02:04:47Z</dcterms:modified>
</cp:coreProperties>
</file>